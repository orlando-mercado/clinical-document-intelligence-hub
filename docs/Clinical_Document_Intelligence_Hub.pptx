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6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185855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6E6B"/>
                </a:solidFill>
                <a:latin typeface="Courier New"/>
              </a:rPr>
              <a:t>AI PROTOTYPE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95728"/>
            <a:ext cx="11185855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400" b="0" i="0">
                <a:solidFill>
                  <a:srgbClr val="10202B"/>
                </a:solidFill>
                <a:latin typeface="Georgia"/>
              </a:rPr>
              <a:t>Clinical Document Intelligence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0007" y="3520440"/>
            <a:ext cx="2011680" cy="27940"/>
          </a:xfrm>
          <a:prstGeom prst="rect">
            <a:avLst/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11185855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3C4C55"/>
                </a:solidFill>
                <a:latin typeface="Arial"/>
              </a:rPr>
              <a:t>Structured, confidence-graded clinical document summaries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11185855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10202B"/>
                </a:solidFill>
                <a:latin typeface="Georgia"/>
              </a:rPr>
              <a:t>Orlando G. Mercado Tellado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11185855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3C4C55"/>
                </a:solidFill>
                <a:latin typeface="Courier New"/>
              </a:rPr>
              <a:t>github.com/orlando-mercado/clinical-document-intelligence-hub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" cy="292608"/>
          </a:xfrm>
          <a:prstGeom prst="rect">
            <a:avLst/>
          </a:prstGeom>
          <a:solidFill>
            <a:srgbClr val="D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25400" rIns="0" bIns="25400" rtlCol="0" anchor="ctr"/>
          <a:lstStyle/>
          <a:p>
            <a:pPr algn="ctr"/>
            <a:r>
              <a:rPr sz="1300" b="1">
                <a:solidFill>
                  <a:srgbClr val="2C6E6B"/>
                </a:solidFill>
                <a:latin typeface="Courier New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"/>
            <a:ext cx="82296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C6E6B"/>
                </a:solidFill>
                <a:latin typeface="Courier New"/>
              </a:rPr>
              <a:t>PROBLEM UNDERSTANDING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85855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10202B"/>
                </a:solidFill>
                <a:latin typeface="Georgia"/>
              </a:rPr>
              <a:t>Clinical documentation review doesn't scale by adding more reviewers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1185855" cy="27940"/>
          </a:xfrm>
          <a:prstGeom prst="rect">
            <a:avLst/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6492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10202B"/>
                </a:solidFill>
                <a:latin typeface="Georgia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6492240" cy="1737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3C4C55"/>
                </a:solidFill>
                <a:latin typeface="Arial"/>
              </a:rPr>
              <a:t>At a mid-size healthcare provider, clinical and administrative staff spend significant time manually reading intake forms, discharge summaries, lab reports, and physician notes to pull out the facts that matter</a:t>
            </a:r>
            <a:r>
              <a:rPr lang="en-US" sz="1400" b="0" i="0">
                <a:solidFill>
                  <a:srgbClr val="3C4C55"/>
                </a:solidFill>
                <a:latin typeface="Arial"/>
              </a:rPr>
              <a:t>,</a:t>
            </a:r>
            <a:r>
              <a:rPr sz="1400" b="0" i="0">
                <a:solidFill>
                  <a:srgbClr val="3C4C55"/>
                </a:solidFill>
                <a:latin typeface="Arial"/>
              </a:rPr>
              <a:t> a diagnosis, a critical lab value, a follow-up date. The process is slow, inconsistent between reviewers, and error-prone exactly where errors are costliest.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6492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10202B"/>
                </a:solidFill>
                <a:latin typeface="Georgia"/>
              </a:rPr>
              <a:t>The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80560"/>
            <a:ext cx="649224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3C4C55"/>
                </a:solidFill>
                <a:latin typeface="Arial"/>
              </a:rPr>
              <a:t>Build a working prototype that ingests a real clinical document and surfaces structured, decision-ready intelligence: the extracted facts, how confident the system is in each one, a plain-language summary, a risk flag, and a recommended next step — in the time it takes to upload a 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965960"/>
            <a:ext cx="4373575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2148840"/>
            <a:ext cx="3916375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1">
                <a:solidFill>
                  <a:srgbClr val="10202B"/>
                </a:solidFill>
                <a:latin typeface="Georgia"/>
              </a:rPr>
              <a:t>Scope, locked on 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651760"/>
            <a:ext cx="5486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F7A52"/>
                </a:solidFill>
                <a:latin typeface="Courier New"/>
              </a:rPr>
              <a:t>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651760"/>
            <a:ext cx="3276295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0202B"/>
                </a:solidFill>
                <a:latin typeface="Arial"/>
              </a:rPr>
              <a:t>Discharge summaries &amp; lab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980944"/>
            <a:ext cx="3916375" cy="9525"/>
          </a:xfrm>
          <a:prstGeom prst="rect">
            <a:avLst/>
          </a:prstGeom>
          <a:solidFill>
            <a:srgbClr val="C7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3035808"/>
            <a:ext cx="5486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F7A52"/>
                </a:solidFill>
                <a:latin typeface="Courier New"/>
              </a:rPr>
              <a:t>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035808"/>
            <a:ext cx="3276295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0202B"/>
                </a:solidFill>
                <a:latin typeface="Arial"/>
              </a:rPr>
              <a:t>Plain text &amp; text-layer PDF input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3364992"/>
            <a:ext cx="3916375" cy="9525"/>
          </a:xfrm>
          <a:prstGeom prst="rect">
            <a:avLst/>
          </a:prstGeom>
          <a:solidFill>
            <a:srgbClr val="C7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3419856"/>
            <a:ext cx="5486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F7A52"/>
                </a:solidFill>
                <a:latin typeface="Courier New"/>
              </a:rPr>
              <a:t>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419856"/>
            <a:ext cx="3276295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0202B"/>
                </a:solidFill>
                <a:latin typeface="Arial"/>
              </a:rPr>
              <a:t>Per-field confidence + source citation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3749040"/>
            <a:ext cx="3916375" cy="9525"/>
          </a:xfrm>
          <a:prstGeom prst="rect">
            <a:avLst/>
          </a:prstGeom>
          <a:solidFill>
            <a:srgbClr val="C7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43800" y="3803904"/>
            <a:ext cx="5486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B0413E"/>
                </a:solidFill>
                <a:latin typeface="Courier New"/>
              </a:rPr>
              <a:t>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803904"/>
            <a:ext cx="3276295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0202B"/>
                </a:solidFill>
                <a:latin typeface="Arial"/>
              </a:rPr>
              <a:t>OCR / scanned or image input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4133088"/>
            <a:ext cx="3916375" cy="9525"/>
          </a:xfrm>
          <a:prstGeom prst="rect">
            <a:avLst/>
          </a:prstGeom>
          <a:solidFill>
            <a:srgbClr val="C7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43800" y="4187952"/>
            <a:ext cx="5486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B0413E"/>
                </a:solidFill>
                <a:latin typeface="Courier New"/>
              </a:rPr>
              <a:t>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187952"/>
            <a:ext cx="3276295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0202B"/>
                </a:solidFill>
                <a:latin typeface="Arial"/>
              </a:rPr>
              <a:t>Intake forms &amp; physician notes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4517136"/>
            <a:ext cx="3916375" cy="9525"/>
          </a:xfrm>
          <a:prstGeom prst="rect">
            <a:avLst/>
          </a:prstGeom>
          <a:solidFill>
            <a:srgbClr val="C7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800" y="4572000"/>
            <a:ext cx="5486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B0413E"/>
                </a:solidFill>
                <a:latin typeface="Courier New"/>
              </a:rPr>
              <a:t>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572000"/>
            <a:ext cx="3276295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0202B"/>
                </a:solidFill>
                <a:latin typeface="Arial"/>
              </a:rPr>
              <a:t>EHR / FHIR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5349240"/>
            <a:ext cx="3916375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3C4C55"/>
                </a:solidFill>
                <a:latin typeface="Arial"/>
              </a:rPr>
              <a:t>A deliberate 5-day tradeoff, documented in docs/scope.md — depth on two document types over shallow coverage of four.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" cy="292608"/>
          </a:xfrm>
          <a:prstGeom prst="rect">
            <a:avLst/>
          </a:prstGeom>
          <a:solidFill>
            <a:srgbClr val="D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25400" rIns="0" bIns="25400" rtlCol="0" anchor="ctr"/>
          <a:lstStyle/>
          <a:p>
            <a:pPr algn="ctr"/>
            <a:r>
              <a:rPr sz="1300" b="1">
                <a:solidFill>
                  <a:srgbClr val="2C6E6B"/>
                </a:solidFill>
                <a:latin typeface="Courier New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"/>
            <a:ext cx="82296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C6E6B"/>
                </a:solidFill>
                <a:latin typeface="Courier New"/>
              </a:rPr>
              <a:t>SOLUTION ARCHITECTURE &amp; DESIGN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85855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10202B"/>
                </a:solidFill>
                <a:latin typeface="Georgia"/>
              </a:rPr>
              <a:t>Two LLM calls, never trusted at their 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1185855" cy="27940"/>
          </a:xfrm>
          <a:prstGeom prst="rect">
            <a:avLst/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2003084" cy="38100"/>
          </a:xfrm>
          <a:prstGeom prst="rect">
            <a:avLst/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95500"/>
            <a:ext cx="2003084" cy="10134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67128"/>
            <a:ext cx="1820204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Document Loader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15768"/>
            <a:ext cx="182020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3C4C55"/>
                </a:solidFill>
                <a:latin typeface="Courier New"/>
              </a:rPr>
              <a:t>.txt · pdfplumber → pypdf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6004" y="2377440"/>
            <a:ext cx="29260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C6E6B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8612" y="2057400"/>
            <a:ext cx="2003084" cy="38100"/>
          </a:xfrm>
          <a:prstGeom prst="rect">
            <a:avLst/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98612" y="2095500"/>
            <a:ext cx="2003084" cy="10134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90052" y="2167128"/>
            <a:ext cx="1820204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Schema-Constrained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0052" y="2715768"/>
            <a:ext cx="182020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3C4C55"/>
                </a:solidFill>
                <a:latin typeface="Courier New"/>
              </a:rPr>
              <a:t>Claude structured outputs + Pydantic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1697" y="2377440"/>
            <a:ext cx="29260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C6E6B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94305" y="2057400"/>
            <a:ext cx="2003084" cy="38100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94305" y="2095500"/>
            <a:ext cx="2003084" cy="1013460"/>
          </a:xfrm>
          <a:prstGeom prst="rect">
            <a:avLst/>
          </a:prstGeom>
          <a:solidFill>
            <a:srgbClr val="DCEAE8"/>
          </a:solidFill>
          <a:ln w="9525">
            <a:solidFill>
              <a:srgbClr val="C7D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5745" y="2167128"/>
            <a:ext cx="1820204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Confidence &amp; Source-Grounding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5745" y="2715768"/>
            <a:ext cx="182020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3C4C55"/>
                </a:solidFill>
                <a:latin typeface="Courier New"/>
              </a:rPr>
              <a:t>citation verified against raw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7389" y="2377440"/>
            <a:ext cx="29260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C6E6B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9997" y="2057400"/>
            <a:ext cx="2003084" cy="38100"/>
          </a:xfrm>
          <a:prstGeom prst="rect">
            <a:avLst/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89997" y="2095500"/>
            <a:ext cx="2003084" cy="10134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81437" y="2167128"/>
            <a:ext cx="1820204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Summarization &amp;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1437" y="2715768"/>
            <a:ext cx="182020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3C4C55"/>
                </a:solidFill>
                <a:latin typeface="Courier New"/>
              </a:rPr>
              <a:t>risk flag +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3082" y="2377440"/>
            <a:ext cx="29260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C6E6B"/>
                </a:solidFill>
                <a:latin typeface="Arial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85690" y="2057400"/>
            <a:ext cx="2003084" cy="38100"/>
          </a:xfrm>
          <a:prstGeom prst="rect">
            <a:avLst/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85690" y="2095500"/>
            <a:ext cx="2003084" cy="10134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77130" y="2167128"/>
            <a:ext cx="1820204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Streamlit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7130" y="2715768"/>
            <a:ext cx="182020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3C4C55"/>
                </a:solidFill>
                <a:latin typeface="Courier New"/>
              </a:rPr>
              <a:t>upload → color-coded 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218688"/>
            <a:ext cx="11185855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C6E6B"/>
                </a:solidFill>
                <a:latin typeface="Arial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18207" y="3611880"/>
            <a:ext cx="2468880" cy="38100"/>
          </a:xfrm>
          <a:prstGeom prst="rect">
            <a:avLst/>
          </a:prstGeom>
          <a:solidFill>
            <a:srgbClr val="3C4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118207" y="3649980"/>
            <a:ext cx="2468880" cy="7391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18207" y="3739896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PDF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18207" y="4050792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C4C55"/>
                </a:solidFill>
                <a:latin typeface="Courier New"/>
              </a:rPr>
              <a:t>clinician-ready artifact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61407" y="3611880"/>
            <a:ext cx="2468880" cy="38100"/>
          </a:xfrm>
          <a:prstGeom prst="rect">
            <a:avLst/>
          </a:prstGeom>
          <a:solidFill>
            <a:srgbClr val="3C4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861407" y="3649980"/>
            <a:ext cx="2468880" cy="7391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61407" y="3739896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Audit 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1407" y="4050792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C4C55"/>
                </a:solidFill>
                <a:latin typeface="Courier New"/>
              </a:rPr>
              <a:t>SQLite, every run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04607" y="3611880"/>
            <a:ext cx="2468880" cy="38100"/>
          </a:xfrm>
          <a:prstGeom prst="rect">
            <a:avLst/>
          </a:prstGeom>
          <a:solidFill>
            <a:srgbClr val="3C4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604607" y="3649980"/>
            <a:ext cx="2468880" cy="7391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04607" y="3739896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Multi-Doc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04607" y="4050792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C4C55"/>
                </a:solidFill>
                <a:latin typeface="Courier New"/>
              </a:rPr>
              <a:t>current vs. prior visit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663440"/>
            <a:ext cx="54864" cy="1234440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7784" y="4663440"/>
            <a:ext cx="11130991" cy="1234440"/>
          </a:xfrm>
          <a:prstGeom prst="rect">
            <a:avLst/>
          </a:prstGeom>
          <a:solidFill>
            <a:srgbClr val="D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" y="4773168"/>
            <a:ext cx="10637215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B0413E"/>
                </a:solidFill>
                <a:latin typeface="Courier New"/>
              </a:rPr>
              <a:t>CORE DESIGN DECISION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074920"/>
            <a:ext cx="10637215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0202B"/>
                </a:solidFill>
                <a:latin typeface="Arial"/>
              </a:rPr>
              <a:t>A field's confidence badge is never the model's self-reported score. It's recomputed deterministically from that score and whether the model's cited quote is </a:t>
            </a:r>
            <a:r>
              <a:rPr lang="en-US" sz="1200" b="0" i="0">
                <a:solidFill>
                  <a:srgbClr val="10202B"/>
                </a:solidFill>
                <a:latin typeface="Arial"/>
              </a:rPr>
              <a:t>a</a:t>
            </a:r>
            <a:r>
              <a:rPr sz="1200" b="0" i="0">
                <a:solidFill>
                  <a:srgbClr val="10202B"/>
                </a:solidFill>
                <a:latin typeface="Arial"/>
              </a:rPr>
              <a:t> verbatim, whitespace-normalized match against the source document — a hallucinated citation is caught automatically and downgraded, regardless of how confident the model claimed to 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2237"/>
            <a:ext cx="12191695" cy="685800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" cy="292608"/>
          </a:xfrm>
          <a:prstGeom prst="rect">
            <a:avLst/>
          </a:prstGeom>
          <a:solidFill>
            <a:srgbClr val="D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25400" rIns="0" bIns="25400" rtlCol="0" anchor="ctr"/>
          <a:lstStyle/>
          <a:p>
            <a:pPr algn="ctr"/>
            <a:r>
              <a:rPr sz="1300" b="1">
                <a:solidFill>
                  <a:srgbClr val="2C6E6B"/>
                </a:solidFill>
                <a:latin typeface="Courier New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"/>
            <a:ext cx="82296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C6E6B"/>
                </a:solidFill>
                <a:latin typeface="Courier New"/>
              </a:rPr>
              <a:t>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85855" cy="6165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0" i="0">
                <a:solidFill>
                  <a:srgbClr val="10202B"/>
                </a:solidFill>
                <a:latin typeface="Georgia"/>
              </a:rPr>
              <a:t>What the pipeline </a:t>
            </a:r>
            <a:r>
              <a:rPr lang="en-US" sz="2700" b="0" i="0">
                <a:solidFill>
                  <a:srgbClr val="10202B"/>
                </a:solidFill>
                <a:latin typeface="Georgia"/>
              </a:rPr>
              <a:t>does</a:t>
            </a:r>
            <a:r>
              <a:rPr sz="2700" b="0" i="0">
                <a:solidFill>
                  <a:srgbClr val="10202B"/>
                </a:solidFill>
                <a:latin typeface="Georgia"/>
              </a:rPr>
              <a:t> under the hood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1185855" cy="27940"/>
          </a:xfrm>
          <a:prstGeom prst="rect">
            <a:avLst/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6895"/>
            <a:ext cx="60350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202B"/>
                </a:solidFill>
                <a:latin typeface="Arial"/>
              </a:rPr>
              <a:t>Structured outputs, not prompt-and-pray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75270"/>
            <a:ext cx="6035040" cy="9152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C4C55"/>
                </a:solidFill>
                <a:latin typeface="Arial"/>
              </a:rPr>
              <a:t>Every LLM call is constrained to a Pydantic schema via client.messages.parse(output_format=…), with a bounded retry loop covering safety refusals, API errors, and numeric bounds structured outputs don't enforce server-side.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034" y="3062532"/>
            <a:ext cx="60350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202B"/>
                </a:solidFill>
                <a:latin typeface="Arial"/>
              </a:rPr>
              <a:t>Two-stage separation of concerns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034" y="3336852"/>
            <a:ext cx="603504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C4C55"/>
                </a:solidFill>
                <a:latin typeface="Arial"/>
              </a:rPr>
              <a:t>Extraction produces graded facts; summarization consumes only that graded data  never the raw document so the risk assessment can't silently drift from what was </a:t>
            </a:r>
            <a:r>
              <a:rPr lang="en-US" sz="1250" b="0" i="0">
                <a:solidFill>
                  <a:srgbClr val="3C4C55"/>
                </a:solidFill>
                <a:latin typeface="Arial"/>
              </a:rPr>
              <a:t>grounded</a:t>
            </a:r>
            <a:r>
              <a:rPr sz="1250" b="0" i="0">
                <a:solidFill>
                  <a:srgbClr val="3C4C55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034" y="4087368"/>
            <a:ext cx="60350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202B"/>
                </a:solidFill>
                <a:latin typeface="Arial"/>
              </a:rPr>
              <a:t>Trajectory-aware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25112"/>
            <a:ext cx="603504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C4C55"/>
                </a:solidFill>
                <a:latin typeface="Arial"/>
              </a:rPr>
              <a:t>Comparing current vs. prior visit escalates risk for values trending toward critical, even when neither single visit crossed that line alone.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64608"/>
            <a:ext cx="60350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1">
                <a:solidFill>
                  <a:srgbClr val="10202B"/>
                </a:solidFill>
                <a:latin typeface="Georgia"/>
              </a:rPr>
              <a:t>The grounding check, in practice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2034" y="5262372"/>
            <a:ext cx="6035040" cy="1188720"/>
          </a:xfrm>
          <a:prstGeom prst="rect">
            <a:avLst/>
          </a:prstGeom>
          <a:solidFill>
            <a:srgbClr val="0F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5239512"/>
            <a:ext cx="56692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EAE6"/>
                </a:solidFill>
                <a:latin typeface="Courier New"/>
              </a:rPr>
              <a:t>def is_verbatim_citation(citation, source_text):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45252"/>
            <a:ext cx="56692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EAE6"/>
                </a:solidFill>
                <a:latin typeface="Courier New"/>
              </a:rPr>
              <a:t>    # column padding &amp; line wraps shouldn't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01284"/>
            <a:ext cx="56692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EAE6"/>
                </a:solidFill>
                <a:latin typeface="Courier New"/>
              </a:rPr>
              <a:t>    # as a hallucination — normalize whitespace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56732"/>
            <a:ext cx="56692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EAE6"/>
                </a:solidFill>
                <a:latin typeface="Courier New"/>
              </a:rPr>
              <a:t>    return (normalize(citation)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62472"/>
            <a:ext cx="56692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EAE6"/>
                </a:solidFill>
                <a:latin typeface="Courier New"/>
              </a:rPr>
              <a:t>            in normalize(source_text))</a:t>
            </a:r>
          </a:p>
        </p:txBody>
      </p:sp>
      <p:pic>
        <p:nvPicPr>
          <p:cNvPr id="22" name="Picture 21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30775" cy="345055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858000" y="1965960"/>
            <a:ext cx="4830775" cy="3450554"/>
          </a:xfrm>
          <a:prstGeom prst="rect">
            <a:avLst/>
          </a:prstGeom>
          <a:noFill/>
          <a:ln w="12700">
            <a:solidFill>
              <a:srgbClr val="C7D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5489666"/>
            <a:ext cx="4830775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3C4C55"/>
                </a:solidFill>
                <a:latin typeface="Courier New"/>
              </a:rPr>
              <a:t>live run · lab_report_whitfield_current.txt · claude-opus-4-8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" cy="292608"/>
          </a:xfrm>
          <a:prstGeom prst="rect">
            <a:avLst/>
          </a:prstGeom>
          <a:solidFill>
            <a:srgbClr val="D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25400" rIns="0" bIns="25400" rtlCol="0" anchor="ctr"/>
          <a:lstStyle/>
          <a:p>
            <a:pPr algn="ctr"/>
            <a:r>
              <a:rPr sz="1300" b="1">
                <a:solidFill>
                  <a:srgbClr val="2C6E6B"/>
                </a:solidFill>
                <a:latin typeface="Courier New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"/>
            <a:ext cx="82296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C6E6B"/>
                </a:solidFill>
                <a:latin typeface="Courier New"/>
              </a:rPr>
              <a:t>CHALLENGES &amp;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85855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10202B"/>
                </a:solidFill>
                <a:latin typeface="Georgia"/>
              </a:rPr>
              <a:t>Four real bugs, caught before they shipped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1185855" cy="27940"/>
          </a:xfrm>
          <a:prstGeom prst="rect">
            <a:avLst/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9144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B0413E"/>
                </a:solidFill>
                <a:latin typeface="Courier New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54100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02B"/>
                </a:solidFill>
                <a:latin typeface="Arial"/>
              </a:rPr>
              <a:t>Infinite recursion in a Pydantic validator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5410047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C4C55"/>
                </a:solidFill>
                <a:latin typeface="Arial"/>
              </a:rPr>
              <a:t>validate_assignment=True made the validator's own self.confidence_level = … assignment re-trigger the same validator, forever.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2011680"/>
            <a:ext cx="9144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3F7A52"/>
                </a:solidFill>
                <a:latin typeface="Courier New"/>
              </a:rPr>
              <a:t>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212848"/>
            <a:ext cx="54100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02B"/>
                </a:solidFill>
                <a:latin typeface="Arial"/>
              </a:rPr>
              <a:t>An explicit method instead of implicit re-validation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487168"/>
            <a:ext cx="5410047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C4C55"/>
                </a:solidFill>
                <a:latin typeface="Arial"/>
              </a:rPr>
              <a:t>clear_ungrounded_citation() does a plain, un-validated attribute write — correct and no longer self-triggering.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11185855" cy="9525"/>
          </a:xfrm>
          <a:prstGeom prst="rect">
            <a:avLst/>
          </a:prstGeom>
          <a:solidFill>
            <a:srgbClr val="C7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090672"/>
            <a:ext cx="9144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B0413E"/>
                </a:solidFill>
                <a:latin typeface="Courier New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54100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02B"/>
                </a:solidFill>
                <a:latin typeface="Arial"/>
              </a:rPr>
              <a:t>A missing API key crashed the whole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66160"/>
            <a:ext cx="5410047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C4C55"/>
                </a:solidFill>
                <a:latin typeface="Arial"/>
              </a:rPr>
              <a:t>No credentials raised a plain TypeError from the SDK — not an anthropic.APIError subclass — so it slipped past every typed exception handler.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090672"/>
            <a:ext cx="9144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3F7A52"/>
                </a:solidFill>
                <a:latin typeface="Courier New"/>
              </a:rP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291840"/>
            <a:ext cx="54100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02B"/>
                </a:solidFill>
                <a:latin typeface="Arial"/>
              </a:rPr>
              <a:t>A last-resort boundary at the UI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566160"/>
            <a:ext cx="5410047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C4C55"/>
                </a:solidFill>
                <a:latin typeface="Arial"/>
              </a:rPr>
              <a:t>Caught with a broad except Exception at the one place it's appropriate: the outermost UI call site, never silently swallowed elsewhere.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96512"/>
            <a:ext cx="11185855" cy="9525"/>
          </a:xfrm>
          <a:prstGeom prst="rect">
            <a:avLst/>
          </a:prstGeom>
          <a:solidFill>
            <a:srgbClr val="C7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169664"/>
            <a:ext cx="9144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B0413E"/>
                </a:solidFill>
                <a:latin typeface="Courier New"/>
              </a:rPr>
              <a:t>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70832"/>
            <a:ext cx="54100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02B"/>
                </a:solidFill>
                <a:latin typeface="Arial"/>
              </a:rPr>
              <a:t>Real citations were flagged as hallucinated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45152"/>
            <a:ext cx="5410047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C4C55"/>
                </a:solidFill>
                <a:latin typeface="Arial"/>
              </a:rPr>
              <a:t>Lab report values are column-padded with extra spaces — an exact substring match rejected genuinely grounded quotes.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4169664"/>
            <a:ext cx="9144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3F7A52"/>
                </a:solidFill>
                <a:latin typeface="Courier New"/>
              </a:rPr>
              <a:t>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727" y="4370832"/>
            <a:ext cx="54100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02B"/>
                </a:solidFill>
                <a:latin typeface="Arial"/>
              </a:rPr>
              <a:t>Whitespace-normalized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727" y="4645152"/>
            <a:ext cx="5410047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C4C55"/>
                </a:solidFill>
                <a:latin typeface="Arial"/>
              </a:rPr>
              <a:t>Collapse whitespace on both sides before checking containment — catches real hallucinations without false-flagging formatting.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175504"/>
            <a:ext cx="11185855" cy="9525"/>
          </a:xfrm>
          <a:prstGeom prst="rect">
            <a:avLst/>
          </a:prstGeom>
          <a:solidFill>
            <a:srgbClr val="C7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5248656"/>
            <a:ext cx="9144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B0413E"/>
                </a:solidFill>
                <a:latin typeface="Courier New"/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449824"/>
            <a:ext cx="54100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02B"/>
                </a:solidFill>
                <a:latin typeface="Arial"/>
              </a:rPr>
              <a:t>The audit log couldn't reload its own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24144"/>
            <a:ext cx="5410047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C4C55"/>
                </a:solidFill>
                <a:latin typeface="Arial"/>
              </a:rPr>
              <a:t>extra="forbid" on the assembled summary card rejected its own computed fields when reloading from the JSON stored in SQLite.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8727" y="5248656"/>
            <a:ext cx="9144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3F7A52"/>
                </a:solidFill>
                <a:latin typeface="Courier New"/>
              </a:rPr>
              <a:t>FIX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8727" y="5449824"/>
            <a:ext cx="5410047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02B"/>
                </a:solidFill>
                <a:latin typeface="Arial"/>
              </a:rPr>
              <a:t>extra="ignore" for assembled, not LLM-facing, objects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8727" y="5724144"/>
            <a:ext cx="5410047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C4C55"/>
                </a:solidFill>
                <a:latin typeface="Arial"/>
              </a:rPr>
              <a:t>Reserved forbid for schemas the model writes directly; objects assembled in code tolerate their own round-trip.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84048" cy="292608"/>
          </a:xfrm>
          <a:prstGeom prst="rect">
            <a:avLst/>
          </a:prstGeom>
          <a:solidFill>
            <a:srgbClr val="D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25400" rIns="0" bIns="25400" rtlCol="0" anchor="ctr"/>
          <a:lstStyle/>
          <a:p>
            <a:pPr algn="ctr"/>
            <a:r>
              <a:rPr sz="1300" b="1">
                <a:solidFill>
                  <a:srgbClr val="2C6E6B"/>
                </a:solidFill>
                <a:latin typeface="Courier New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"/>
            <a:ext cx="82296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C6E6B"/>
                </a:solidFill>
                <a:latin typeface="Courier New"/>
              </a:rPr>
              <a:t>DEMO 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85855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10202B"/>
                </a:solidFill>
                <a:latin typeface="Georgia"/>
              </a:rPr>
              <a:t>Working end to end, on real synthetic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1185855" cy="27940"/>
          </a:xfrm>
          <a:prstGeom prst="rect">
            <a:avLst/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640080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3C4C55"/>
                </a:solidFill>
                <a:latin typeface="Arial"/>
              </a:rPr>
              <a:t>Live-tested against synthetic discharge summaries and lab reports, including a critical hyperkalemia case (potassium 6.2 mmol/L) correctly escalated to Critical risk with immediate-priority recommendations, and a paired current/prior lab comparison correctly identifying a Worsening trend as potassium climbed from 5.3 → 6.2 mmol/L.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17373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2C6E6B"/>
                </a:solidFill>
                <a:latin typeface="Georgia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78808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3C4C55"/>
                </a:solidFill>
                <a:latin typeface="Courier New"/>
              </a:rPr>
              <a:t>PASSING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611880"/>
            <a:ext cx="17373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2C6E6B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4178808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3C4C55"/>
                </a:solidFill>
                <a:latin typeface="Courier New"/>
              </a:rPr>
              <a:t>DOCUMENT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611880"/>
            <a:ext cx="17373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2C6E6B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178808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3C4C55"/>
                </a:solidFill>
                <a:latin typeface="Courier New"/>
              </a:rPr>
              <a:t>LLM-BACKED 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63440"/>
            <a:ext cx="11887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3C4C55"/>
                </a:solidFill>
                <a:latin typeface="Courier New"/>
              </a:rP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663440"/>
            <a:ext cx="51206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C6E6B"/>
                </a:solidFill>
                <a:latin typeface="Courier New"/>
              </a:rPr>
              <a:t>github.com/orlando-mercado/clinical-document-intelligence-hub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83480"/>
            <a:ext cx="11887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3C4C55"/>
                </a:solidFill>
                <a:latin typeface="Courier New"/>
              </a:rPr>
              <a:t>Live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983480"/>
            <a:ext cx="51206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C6E6B"/>
                </a:solidFill>
                <a:latin typeface="Courier New"/>
              </a:rPr>
              <a:t>orlando-mercado-clinical-document-intelligence-h-appmain-beando.streamlit.app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011680"/>
            <a:ext cx="4510735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2194560"/>
            <a:ext cx="4053535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1">
                <a:solidFill>
                  <a:srgbClr val="10202B"/>
                </a:solidFill>
                <a:latin typeface="Georgia"/>
              </a:rPr>
              <a:t>If given more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651760"/>
            <a:ext cx="4053535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More document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880360"/>
            <a:ext cx="4053535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C4C55"/>
                </a:solidFill>
                <a:latin typeface="Arial"/>
              </a:rPr>
              <a:t>intake forms and physician notes fit the same extraction pattern already built.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319272"/>
            <a:ext cx="4053535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OCR / scanned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547872"/>
            <a:ext cx="4053535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C4C55"/>
                </a:solidFill>
                <a:latin typeface="Arial"/>
              </a:rPr>
              <a:t>currently rejected by design; would need a vision step ahead of extraction.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986784"/>
            <a:ext cx="4053535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Durable audit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215384"/>
            <a:ext cx="4053535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C4C55"/>
                </a:solidFill>
                <a:latin typeface="Arial"/>
              </a:rPr>
              <a:t>today's SQLite file is ephemeral on cloud hosting; a managed database would persist across deploys.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654296"/>
            <a:ext cx="4053535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Auth &amp; multi-tenant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882896"/>
            <a:ext cx="4053535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C4C55"/>
                </a:solidFill>
                <a:latin typeface="Arial"/>
              </a:rPr>
              <a:t>needed before this touches more than one reviewer's documents.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321808"/>
            <a:ext cx="4053535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0202B"/>
                </a:solidFill>
                <a:latin typeface="Arial"/>
              </a:rPr>
              <a:t>EHR / FHIR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550408"/>
            <a:ext cx="4053535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C4C55"/>
                </a:solidFill>
                <a:latin typeface="Arial"/>
              </a:rPr>
              <a:t>replace manual upload with a live system connection.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960</Words>
  <Application>Microsoft Macintosh PowerPoint</Application>
  <PresentationFormat>Widescreen</PresentationFormat>
  <Paragraphs>120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ORLANDO G MERCADO-TELLADO</cp:lastModifiedBy>
  <cp:revision>2</cp:revision>
  <dcterms:created xsi:type="dcterms:W3CDTF">2013-01-27T09:14:16Z</dcterms:created>
  <dcterms:modified xsi:type="dcterms:W3CDTF">2026-07-08T08:03:33Z</dcterms:modified>
  <cp:category/>
</cp:coreProperties>
</file>